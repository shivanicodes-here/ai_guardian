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640080"/>
            <a:ext cx="1417320" cy="1417320"/>
          </a:xfrm>
          <a:prstGeom prst="rect">
            <a:avLst/>
          </a:prstGeom>
          <a:solidFill>
            <a:srgbClr val="1E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61320" y="1234440"/>
            <a:ext cx="685800" cy="68580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914400" y="1188720"/>
            <a:ext cx="1143000" cy="1371600"/>
          </a:xfrm>
          <a:prstGeom prst="homePlate">
            <a:avLst/>
          </a:prstGeom>
          <a:solidFill>
            <a:srgbClr val="2680EB"/>
          </a:solidFill>
          <a:ln>
            <a:solidFill>
              <a:srgbClr val="3D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170432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FFFFFF"/>
                </a:solidFill>
                <a:latin typeface="Aptos Display"/>
              </a:defRPr>
            </a:pPr>
            <a:r>
              <a:t>AI Guardian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212848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DE0F2"/>
                </a:solidFill>
                <a:latin typeface="Aptos"/>
              </a:defRPr>
            </a:pPr>
            <a:r>
              <a:t>AI Safety, Hallucination Reduction &amp; Jailbreak Defense Engine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94760"/>
            <a:ext cx="1143000" cy="1143000"/>
          </a:xfrm>
          <a:prstGeom prst="ellipse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13048"/>
            <a:ext cx="1143000" cy="1124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47488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4370832"/>
            <a:ext cx="1554480" cy="0"/>
          </a:xfrm>
          <a:prstGeom prst="line">
            <a:avLst/>
          </a:prstGeom>
          <a:ln w="25400">
            <a:solidFill>
              <a:srgbClr val="7DB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03320" y="3794760"/>
            <a:ext cx="1143000" cy="1143000"/>
          </a:xfrm>
          <a:prstGeom prst="ellipse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3813048"/>
            <a:ext cx="1143000" cy="1124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047488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4370832"/>
            <a:ext cx="1554480" cy="0"/>
          </a:xfrm>
          <a:prstGeom prst="line">
            <a:avLst/>
          </a:prstGeom>
          <a:ln w="25400">
            <a:solidFill>
              <a:srgbClr val="7DB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92240" y="3794760"/>
            <a:ext cx="1143000" cy="1143000"/>
          </a:xfrm>
          <a:prstGeom prst="ellipse">
            <a:avLst/>
          </a:prstGeom>
          <a:solidFill>
            <a:srgbClr val="62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13048"/>
            <a:ext cx="1143000" cy="1124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5047488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GENERATE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0" y="4370832"/>
            <a:ext cx="1554480" cy="0"/>
          </a:xfrm>
          <a:prstGeom prst="line">
            <a:avLst/>
          </a:prstGeom>
          <a:ln w="25400">
            <a:solidFill>
              <a:srgbClr val="7DB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281160" y="3794760"/>
            <a:ext cx="1143000" cy="1143000"/>
          </a:xfrm>
          <a:prstGeom prst="ellipse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3813048"/>
            <a:ext cx="1143000" cy="1124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047488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1CAE0"/>
                </a:solidFill>
                <a:latin typeface="Aptos"/>
              </a:defRPr>
            </a:pPr>
            <a:r>
              <a:t>Real-time prompt defense • NLI-based grounding • Safety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Why modern LLM deployments need a real-time safety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  <a:defRPr sz="1700">
                <a:solidFill>
                  <a:srgbClr val="1E283A"/>
                </a:solidFill>
                <a:latin typeface="Aptos"/>
              </a:defRPr>
            </a:pPr>
            <a:r>
              <a:t>1. Large Language Models can be exposed to adversarial jailbreaks and prompt-injection attempts.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700">
                <a:solidFill>
                  <a:srgbClr val="1E283A"/>
                </a:solidFill>
                <a:latin typeface="Aptos"/>
              </a:defRPr>
            </a:pPr>
            <a:r>
              <a:t>2. Generated responses may contain unsupported or contradictory claims, reducing user trust.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700">
                <a:solidFill>
                  <a:srgbClr val="1E283A"/>
                </a:solidFill>
                <a:latin typeface="Aptos"/>
              </a:defRPr>
            </a:pPr>
            <a:r>
              <a:t>3. Enterprise deployments need automated checks before unsafe or poorly grounded responses reach users.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700">
                <a:solidFill>
                  <a:srgbClr val="1E283A"/>
                </a:solidFill>
                <a:latin typeface="Aptos"/>
              </a:defRPr>
            </a:pPr>
            <a:r>
              <a:t>4. A practical solution should detect attacks, generate responses, verify claims, and expose measurable safety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600200"/>
            <a:ext cx="3840480" cy="105156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600200"/>
            <a:ext cx="73152" cy="1051560"/>
          </a:xfrm>
          <a:prstGeom prst="rect">
            <a:avLst/>
          </a:prstGeom>
          <a:solidFill>
            <a:srgbClr val="D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755648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Jailbreak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167128"/>
            <a:ext cx="3493008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Instruction override, hidden prompt extraction and safety bypass attempts.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788920"/>
            <a:ext cx="3840480" cy="105156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788920"/>
            <a:ext cx="73152" cy="1051560"/>
          </a:xfrm>
          <a:prstGeom prst="rect">
            <a:avLst/>
          </a:prstGeom>
          <a:solidFill>
            <a:srgbClr val="E7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944368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Hallucination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355848"/>
            <a:ext cx="3493008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Claims that are not supported by the supplied reference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977639"/>
            <a:ext cx="3840480" cy="105156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977639"/>
            <a:ext cx="73152" cy="105156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133087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Trust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544568"/>
            <a:ext cx="3493008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Users need transparent signals showing why a response was flagged.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Core goals of the AI Guardian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182880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Input Defense  Input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67128"/>
            <a:ext cx="486460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1E283A"/>
                </a:solidFill>
                <a:latin typeface="Aptos"/>
              </a:defRPr>
            </a:pPr>
            <a:r>
              <a:t>Normalize user input and detect common jailbreak / prompt-injection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73152" cy="1828800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55648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Safe Generation  Safe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67128"/>
            <a:ext cx="486460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1E283A"/>
                </a:solidFill>
                <a:latin typeface="Aptos"/>
              </a:defRPr>
            </a:pPr>
            <a:r>
              <a:t>Generate a response only after the prompt passes the initial rule-based defense.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1208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73152" cy="1828800"/>
          </a:xfrm>
          <a:prstGeom prst="rect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41648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Grounding Check  Grounding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53128"/>
            <a:ext cx="486460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1E283A"/>
                </a:solidFill>
                <a:latin typeface="Aptos"/>
              </a:defRPr>
            </a:pPr>
            <a:r>
              <a:t>Use Natural Language Inference to compare generated claims with reference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86200"/>
            <a:ext cx="521208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86200"/>
            <a:ext cx="73152" cy="1828800"/>
          </a:xfrm>
          <a:prstGeom prst="rect">
            <a:avLst/>
          </a:prstGeom>
          <a:solidFill>
            <a:srgbClr val="E7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041648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Measurable Safety  Measurable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453128"/>
            <a:ext cx="486460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1E283A"/>
                </a:solidFill>
                <a:latin typeface="Aptos"/>
              </a:defRPr>
            </a:pPr>
            <a:r>
              <a:t>Show risk, grounding, claim status, detection rate and latency in one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A lightweight safety wrapper around an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914400" cy="914400"/>
          </a:xfrm>
          <a:prstGeom prst="ellipse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914400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31F37"/>
                </a:solidFill>
                <a:latin typeface="Aptos"/>
              </a:defRPr>
            </a:pPr>
            <a:r>
              <a:t>User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" y="3337560"/>
            <a:ext cx="1554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E6F85"/>
                </a:solidFill>
                <a:latin typeface="Aptos"/>
              </a:defRPr>
            </a:pPr>
            <a:r>
              <a:t>Raw question enters the system.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286000"/>
            <a:ext cx="932688" cy="0"/>
          </a:xfrm>
          <a:prstGeom prst="line">
            <a:avLst/>
          </a:prstGeom>
          <a:ln w="22860">
            <a:solidFill>
              <a:srgbClr val="96AD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68880" y="1828800"/>
            <a:ext cx="914400" cy="914400"/>
          </a:xfrm>
          <a:prstGeom prst="ellipse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847088"/>
            <a:ext cx="914400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8036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31F37"/>
                </a:solidFill>
                <a:latin typeface="Aptos"/>
              </a:defRPr>
            </a:pPr>
            <a:r>
              <a:t>Sanitize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3337560"/>
            <a:ext cx="1554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E6F85"/>
                </a:solidFill>
                <a:latin typeface="Aptos"/>
              </a:defRPr>
            </a:pPr>
            <a:r>
              <a:t>Normalize text and limit oversized input.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2286000"/>
            <a:ext cx="932688" cy="0"/>
          </a:xfrm>
          <a:prstGeom prst="line">
            <a:avLst/>
          </a:prstGeom>
          <a:ln w="22860">
            <a:solidFill>
              <a:srgbClr val="96AD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34840" y="1828800"/>
            <a:ext cx="914400" cy="914400"/>
          </a:xfrm>
          <a:prstGeom prst="ellipse">
            <a:avLst/>
          </a:prstGeom>
          <a:solidFill>
            <a:srgbClr val="D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847088"/>
            <a:ext cx="914400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88036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31F37"/>
                </a:solidFill>
                <a:latin typeface="Aptos"/>
              </a:defRPr>
            </a:pPr>
            <a:r>
              <a:t>Jailbreak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1" y="3337560"/>
            <a:ext cx="1554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E6F85"/>
                </a:solidFill>
                <a:latin typeface="Aptos"/>
              </a:defRPr>
            </a:pPr>
            <a:r>
              <a:t>Match known prompt-injection patterns.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94959" y="2286000"/>
            <a:ext cx="932689" cy="0"/>
          </a:xfrm>
          <a:prstGeom prst="line">
            <a:avLst/>
          </a:prstGeom>
          <a:ln w="22860">
            <a:solidFill>
              <a:srgbClr val="96AD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00800" y="1828800"/>
            <a:ext cx="914400" cy="914400"/>
          </a:xfrm>
          <a:prstGeom prst="ellipse">
            <a:avLst/>
          </a:prstGeom>
          <a:solidFill>
            <a:srgbClr val="62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914400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8036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31F37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3337560"/>
            <a:ext cx="1554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E6F85"/>
                </a:solidFill>
                <a:latin typeface="Aptos"/>
              </a:defRPr>
            </a:pPr>
            <a:r>
              <a:t>FLAN-T5 produces a concise response.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60920" y="2286000"/>
            <a:ext cx="932688" cy="0"/>
          </a:xfrm>
          <a:prstGeom prst="line">
            <a:avLst/>
          </a:prstGeom>
          <a:ln w="22860">
            <a:solidFill>
              <a:srgbClr val="96AD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366760" y="1828800"/>
            <a:ext cx="914400" cy="914400"/>
          </a:xfrm>
          <a:prstGeom prst="ellipse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847088"/>
            <a:ext cx="914400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8036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31F37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3337560"/>
            <a:ext cx="1554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E6F85"/>
                </a:solidFill>
                <a:latin typeface="Aptos"/>
              </a:defRPr>
            </a:pPr>
            <a:r>
              <a:t>NLI compares claims against evidence.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80" y="2286000"/>
            <a:ext cx="932688" cy="0"/>
          </a:xfrm>
          <a:prstGeom prst="line">
            <a:avLst/>
          </a:prstGeom>
          <a:ln w="22860">
            <a:solidFill>
              <a:srgbClr val="96AD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332720" y="1828800"/>
            <a:ext cx="914400" cy="914400"/>
          </a:xfrm>
          <a:prstGeom prst="ellipse">
            <a:avLst/>
          </a:prstGeom>
          <a:solidFill>
            <a:srgbClr val="E7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1847088"/>
            <a:ext cx="914400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88036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31F37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3337560"/>
            <a:ext cx="1554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E6F85"/>
                </a:solidFill>
                <a:latin typeface="Aptos"/>
              </a:defRPr>
            </a:pPr>
            <a:r>
              <a:t>Display safety and performance metrics.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074920"/>
            <a:ext cx="8503920" cy="777240"/>
          </a:xfrm>
          <a:prstGeom prst="roundRect">
            <a:avLst/>
          </a:prstGeom>
          <a:solidFill>
            <a:srgbClr val="F4F8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527608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31F37"/>
                </a:solidFill>
                <a:latin typeface="Aptos"/>
              </a:defRPr>
            </a:pPr>
            <a:r>
              <a:t>Key principle: block obvious attacks early, then verify generated claims against reference evidence.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How the components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103120" cy="96012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96012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17556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F37"/>
                </a:solidFill>
                <a:latin typeface="Aptos Display"/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67128"/>
            <a:ext cx="1755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83A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00200"/>
            <a:ext cx="2377440" cy="96012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600200"/>
            <a:ext cx="73152" cy="960120"/>
          </a:xfrm>
          <a:prstGeom prst="rect">
            <a:avLst/>
          </a:prstGeom>
          <a:solidFill>
            <a:srgbClr val="D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755648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F37"/>
                </a:solidFill>
                <a:latin typeface="Aptos Display"/>
              </a:defRPr>
            </a:pPr>
            <a:r>
              <a:t>Safety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167128"/>
            <a:ext cx="2029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83A"/>
                </a:solidFill>
                <a:latin typeface="Aptos"/>
              </a:defRPr>
            </a:pPr>
            <a:r>
              <a:t>Regex + Risk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600200"/>
            <a:ext cx="2377440" cy="96012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600200"/>
            <a:ext cx="73152" cy="960120"/>
          </a:xfrm>
          <a:prstGeom prst="rect">
            <a:avLst/>
          </a:prstGeom>
          <a:solidFill>
            <a:srgbClr val="62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755648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F37"/>
                </a:solidFill>
                <a:latin typeface="Aptos Display"/>
              </a:defRPr>
            </a:pPr>
            <a:r>
              <a:t>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167128"/>
            <a:ext cx="2029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83A"/>
                </a:solidFill>
                <a:latin typeface="Aptos"/>
              </a:defRPr>
            </a:pPr>
            <a:r>
              <a:t>FLAN-T5 Small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1600200"/>
            <a:ext cx="1554480" cy="96012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21240" y="1600200"/>
            <a:ext cx="73152" cy="960120"/>
          </a:xfrm>
          <a:prstGeom prst="rect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22408" y="1755648"/>
            <a:ext cx="12070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F37"/>
                </a:solidFill>
                <a:latin typeface="Aptos Display"/>
              </a:defRPr>
            </a:pPr>
            <a: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2408" y="2167128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83A"/>
                </a:solidFill>
                <a:latin typeface="Aptos"/>
              </a:defRPr>
            </a:pPr>
            <a:r>
              <a:t>AI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49039"/>
            <a:ext cx="2377440" cy="96012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749039"/>
            <a:ext cx="73152" cy="960120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768" y="3904487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F37"/>
                </a:solidFill>
                <a:latin typeface="Aptos Display"/>
              </a:defRPr>
            </a:pPr>
            <a:r>
              <a:t>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4315968"/>
            <a:ext cx="2029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83A"/>
                </a:solidFill>
                <a:latin typeface="Aptos"/>
              </a:defRPr>
            </a:pPr>
            <a:r>
              <a:t>Evidence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749039"/>
            <a:ext cx="2377440" cy="96012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3749039"/>
            <a:ext cx="73152" cy="960120"/>
          </a:xfrm>
          <a:prstGeom prst="rect">
            <a:avLst/>
          </a:prstGeom>
          <a:solidFill>
            <a:srgbClr val="E7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3904487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F37"/>
                </a:solidFill>
                <a:latin typeface="Aptos Display"/>
              </a:defRPr>
            </a:pPr>
            <a:r>
              <a:t>NLI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4315968"/>
            <a:ext cx="2029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83A"/>
                </a:solidFill>
                <a:latin typeface="Aptos"/>
              </a:defRPr>
            </a:pPr>
            <a:r>
              <a:t>Claim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3749039"/>
            <a:ext cx="1554480" cy="96012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21240" y="3749039"/>
            <a:ext cx="73152" cy="96012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3904487"/>
            <a:ext cx="12070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F37"/>
                </a:solidFill>
                <a:latin typeface="Aptos Display"/>
              </a:defRPr>
            </a:pPr>
            <a: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2408" y="4315968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83A"/>
                </a:solidFill>
                <a:latin typeface="Aptos"/>
              </a:defRPr>
            </a:pPr>
            <a:r>
              <a:t>Metrics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34640" y="2075688"/>
            <a:ext cx="822960" cy="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35040" y="2075688"/>
            <a:ext cx="868680" cy="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81160" y="2075688"/>
            <a:ext cx="640080" cy="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29600" y="2560320"/>
            <a:ext cx="0" cy="1188719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35040" y="4224528"/>
            <a:ext cx="868680" cy="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81160" y="4224528"/>
            <a:ext cx="640080" cy="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698480" y="2560320"/>
            <a:ext cx="0" cy="1188719"/>
          </a:xfrm>
          <a:prstGeom prst="line">
            <a:avLst/>
          </a:prstGeom>
          <a:ln w="19050">
            <a:solidFill>
              <a:srgbClr val="96AD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5486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E6F85"/>
                </a:solidFill>
                <a:latin typeface="Aptos"/>
              </a:defRPr>
            </a:pPr>
            <a:r>
              <a:t>The architecture separates attack detection from response grounding, making the prototype easier to inspect and evaluate.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Key Modules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Implementation choices used in the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16002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60020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0992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Streamlit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Interactive web interface for prompts, reference context, responses and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29000" cy="16002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73152" cy="1600200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0992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Hugging Face Transformers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21408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FLAN-T5 Small for response generation and an NLI model for claim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29000" cy="16002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73152" cy="1600200"/>
          </a:xfrm>
          <a:prstGeom prst="rect">
            <a:avLst/>
          </a:prstGeom>
          <a:solidFill>
            <a:srgbClr val="D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0992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Regex Safety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21408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Pattern-based detection for common instruction override and prompt-extraction attempts.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429000" cy="16002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73152" cy="1600200"/>
          </a:xfrm>
          <a:prstGeom prst="rect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1304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Evidence Chunking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224528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Reference text is split into smaller pieces to focus the NLI comparison.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429000" cy="16002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73152" cy="1600200"/>
          </a:xfrm>
          <a:prstGeom prst="rect">
            <a:avLst/>
          </a:prstGeom>
          <a:solidFill>
            <a:srgbClr val="E7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81304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Claim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224528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Generated sentences are classified as supported, contradictory or uncertain.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657600"/>
            <a:ext cx="3429000" cy="16002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657600"/>
            <a:ext cx="73152" cy="160020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81304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Safety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224528"/>
            <a:ext cx="308152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Shows jailbreak risk, NLI grounding, hallucination status and latency.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Jailbreak &amp; Prompt-Injection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Rule-based detection for common attack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4480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  <a:defRPr sz="1600">
                <a:solidFill>
                  <a:srgbClr val="1E283A"/>
                </a:solidFill>
                <a:latin typeface="Aptos"/>
              </a:defRPr>
            </a:pPr>
            <a:r>
              <a:t>1. The prompt is normalized before analysis to reduce formatting noise.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600">
                <a:solidFill>
                  <a:srgbClr val="1E283A"/>
                </a:solidFill>
                <a:latin typeface="Aptos"/>
              </a:defRPr>
            </a:pPr>
            <a:r>
              <a:t>2. Regular expressions search for common instruction-override patterns.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600">
                <a:solidFill>
                  <a:srgbClr val="1E283A"/>
                </a:solidFill>
                <a:latin typeface="Aptos"/>
              </a:defRPr>
            </a:pPr>
            <a:r>
              <a:t>3. Examples include requests to ignore previous instructions, reveal hidden prompts, bypass safety, or activate unrestricted modes.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600">
                <a:solidFill>
                  <a:srgbClr val="1E283A"/>
                </a:solidFill>
                <a:latin typeface="Aptos"/>
              </a:defRPr>
            </a:pPr>
            <a:r>
              <a:t>4. Detected prompts are blocked before being sent to the generation model.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600">
                <a:solidFill>
                  <a:srgbClr val="1E283A"/>
                </a:solidFill>
                <a:latin typeface="Aptos"/>
              </a:defRPr>
            </a:pPr>
            <a:r>
              <a:t>5. A benchmark section reports detection coverage on a small built-in attack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600200"/>
            <a:ext cx="3886200" cy="4160520"/>
          </a:xfrm>
          <a:prstGeom prst="round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74519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Example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514600"/>
            <a:ext cx="3246120" cy="502920"/>
          </a:xfrm>
          <a:prstGeom prst="roundRect">
            <a:avLst/>
          </a:prstGeom>
          <a:solidFill>
            <a:srgbClr val="23324E"/>
          </a:solidFill>
          <a:ln>
            <a:solidFill>
              <a:srgbClr val="DE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25877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IGNORE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200400"/>
            <a:ext cx="3246120" cy="502920"/>
          </a:xfrm>
          <a:prstGeom prst="roundRect">
            <a:avLst/>
          </a:prstGeom>
          <a:solidFill>
            <a:srgbClr val="23324E"/>
          </a:solidFill>
          <a:ln>
            <a:solidFill>
              <a:srgbClr val="E7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2735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REVEAL SYSTEM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886200"/>
            <a:ext cx="3246120" cy="502920"/>
          </a:xfrm>
          <a:prstGeom prst="roundRect">
            <a:avLst/>
          </a:prstGeom>
          <a:solidFill>
            <a:srgbClr val="23324E"/>
          </a:solidFill>
          <a:ln>
            <a:solidFill>
              <a:srgbClr val="DE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39593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BYPASS SAFETY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572000"/>
            <a:ext cx="3246120" cy="502920"/>
          </a:xfrm>
          <a:prstGeom prst="roundRect">
            <a:avLst/>
          </a:prstGeom>
          <a:solidFill>
            <a:srgbClr val="23324E"/>
          </a:solidFill>
          <a:ln>
            <a:solidFill>
              <a:srgbClr val="3DB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6451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DAN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Hallucination Reduction with NLI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Checking whether generated claims are supported by reference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926080" cy="11430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143000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64207"/>
            <a:ext cx="2578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Reference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25786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Trusted/reference text is treated as the evidence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2926080" cy="11430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63240"/>
            <a:ext cx="73152" cy="114300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218688"/>
            <a:ext cx="2578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Generated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30168"/>
            <a:ext cx="25786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Each response sentence becomes a claim to verify.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11880" y="2057400"/>
            <a:ext cx="1051560" cy="77724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611880" y="2834640"/>
            <a:ext cx="1051560" cy="82296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09160" y="2331720"/>
            <a:ext cx="1005840" cy="1005840"/>
          </a:xfrm>
          <a:prstGeom prst="ellipse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350008"/>
            <a:ext cx="1005840" cy="987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NLI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508760"/>
            <a:ext cx="2423160" cy="11430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508760"/>
            <a:ext cx="73152" cy="1143000"/>
          </a:xfrm>
          <a:prstGeom prst="rect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664207"/>
            <a:ext cx="20756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075688"/>
            <a:ext cx="207568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Evidence entails the claim.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063240"/>
            <a:ext cx="2423160" cy="11430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73152" cy="1143000"/>
          </a:xfrm>
          <a:prstGeom prst="rect">
            <a:avLst/>
          </a:prstGeom>
          <a:solidFill>
            <a:srgbClr val="D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3218688"/>
            <a:ext cx="20756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CONTRADICTION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3630168"/>
            <a:ext cx="207568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Evidence conflicts with the claim.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286000"/>
            <a:ext cx="2423160" cy="114300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286000"/>
            <a:ext cx="73152" cy="1143000"/>
          </a:xfrm>
          <a:prstGeom prst="rect">
            <a:avLst/>
          </a:prstGeom>
          <a:solidFill>
            <a:srgbClr val="E7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568" y="2441448"/>
            <a:ext cx="20756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1F37"/>
                </a:solidFill>
                <a:latin typeface="Aptos Display"/>
              </a:defRPr>
            </a:pPr>
            <a:r>
              <a:t>UNCERTAIN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852928"/>
            <a:ext cx="207568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3A"/>
                </a:solidFill>
                <a:latin typeface="Aptos"/>
              </a:defRPr>
            </a:pPr>
            <a:r>
              <a:t>Evidence is insufficient to support the claim.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715000" y="2103120"/>
            <a:ext cx="365760" cy="73152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15000" y="2834640"/>
            <a:ext cx="365760" cy="82296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15000" y="2834640"/>
            <a:ext cx="3200400" cy="0"/>
          </a:xfrm>
          <a:prstGeom prst="line">
            <a:avLst/>
          </a:prstGeom>
          <a:ln w="31750">
            <a:solidFill>
              <a:srgbClr val="268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E6F85"/>
                </a:solidFill>
                <a:latin typeface="Aptos"/>
              </a:defRPr>
            </a:pPr>
            <a:r>
              <a:t>Important: NLI-based grounding measures consistency with the supplied context; it does not independently prove that the context itself is true.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1F37"/>
                </a:solidFill>
                <a:latin typeface="Aptos Display"/>
              </a:defRPr>
            </a:pPr>
            <a:r>
              <a:t>Prototype Dashboard —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F85"/>
                </a:solidFill>
                <a:latin typeface="Aptos"/>
              </a:defRPr>
            </a:pPr>
            <a:r>
              <a:t>Example run using the supplied AI Guardian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9-25 095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715000" cy="2724593"/>
          </a:xfrm>
          <a:prstGeom prst="rect">
            <a:avLst/>
          </a:prstGeom>
        </p:spPr>
      </p:pic>
      <p:pic>
        <p:nvPicPr>
          <p:cNvPr id="6" name="Picture 5" descr="Screenshot 2026-09-25 0952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49240" cy="24558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349240"/>
            <a:ext cx="342900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349240"/>
            <a:ext cx="73152" cy="86868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50468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31F37"/>
                </a:solidFill>
                <a:latin typeface="Aptos Display"/>
              </a:defRPr>
            </a:pPr>
            <a:r>
              <a:t>Input &amp;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916168"/>
            <a:ext cx="3081528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83A"/>
                </a:solidFill>
                <a:latin typeface="Aptos"/>
              </a:defRPr>
            </a:pPr>
            <a:r>
              <a:t>Prompt and reference evidence are entered side-by-side.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5349240"/>
            <a:ext cx="342900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5349240"/>
            <a:ext cx="73152" cy="868680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550468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31F37"/>
                </a:solidFill>
                <a:latin typeface="Aptos Display"/>
              </a:defRPr>
            </a:pPr>
            <a: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5916168"/>
            <a:ext cx="3081528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83A"/>
                </a:solidFill>
                <a:latin typeface="Aptos"/>
              </a:defRPr>
            </a:pPr>
            <a:r>
              <a:t>The model generates a grounded answer from the supplied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349240"/>
            <a:ext cx="342900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5349240"/>
            <a:ext cx="73152" cy="868680"/>
          </a:xfrm>
          <a:prstGeom prst="rect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5504688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31F37"/>
                </a:solidFill>
                <a:latin typeface="Aptos Display"/>
              </a:defRPr>
            </a:pPr>
            <a:r>
              <a:t>Safety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5916168"/>
            <a:ext cx="3081528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83A"/>
                </a:solidFill>
                <a:latin typeface="Aptos"/>
              </a:defRPr>
            </a:pPr>
            <a:r>
              <a:t>Dashboard exposes jailbreak risk, grounding, hallucination status and latency.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D0DCEB"/>
                </a:solidFill>
                <a:latin typeface="Aptos"/>
              </a:defRPr>
            </a:pPr>
            <a:r>
              <a:t>From prototype defense to a stronger production-grade safety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325880"/>
          </a:xfrm>
          <a:prstGeom prst="rect">
            <a:avLst/>
          </a:prstGeom>
          <a:solidFill>
            <a:srgbClr val="3DB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09928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What the Prototype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81888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A complete safety pipeline: input defense → generation → evidence-based claim checking → dashboard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16636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73152" cy="1325880"/>
          </a:xfrm>
          <a:prstGeom prst="rect">
            <a:avLst/>
          </a:prstGeom>
          <a:solidFill>
            <a:srgbClr val="E7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10128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21608"/>
            <a:ext cx="481888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Rule-based detection can miss novel attacks, and NLI grounding depends on the quality and coverage of the reference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16636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73152" cy="1325880"/>
          </a:xfrm>
          <a:prstGeom prst="rect">
            <a:avLst/>
          </a:prstGeom>
          <a:solidFill>
            <a:srgbClr val="268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709928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121408"/>
            <a:ext cx="481888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Add trained jailbreak classifiers, stronger retrieval, larger evaluation datasets, multilingual support and continuous monitoring.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54680"/>
            <a:ext cx="516636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154680"/>
            <a:ext cx="73152" cy="1325880"/>
          </a:xfrm>
          <a:prstGeom prst="rect">
            <a:avLst/>
          </a:prstGeom>
          <a:solidFill>
            <a:srgbClr val="28A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310128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1F37"/>
                </a:solidFill>
                <a:latin typeface="Aptos Display"/>
              </a:defRPr>
            </a:pPr>
            <a:r>
              <a:t>Evaluation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721608"/>
            <a:ext cx="481888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A"/>
                </a:solidFill>
                <a:latin typeface="Aptos"/>
              </a:defRPr>
            </a:pPr>
            <a:r>
              <a:t>Measure attack detection/deflection across benchmark sets, grounding quality, false positives, throughput and latency.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AI Guardian turns LLM safety from a hidden concern into an observable, testable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